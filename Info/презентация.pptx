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32A2"/>
    <a:srgbClr val="D2B7E9"/>
    <a:srgbClr val="BA90DD"/>
    <a:srgbClr val="8942C5"/>
    <a:srgbClr val="628A61"/>
    <a:srgbClr val="54267B"/>
    <a:srgbClr val="391A54"/>
    <a:srgbClr val="223022"/>
    <a:srgbClr val="9AB899"/>
    <a:srgbClr val="B8C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2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6EC6F-265C-2018-BFB3-034B44A35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FA342-1420-C2D5-9AE1-A4142E33A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1D92E0-10A7-F472-6B56-77D1FA99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CBEC5-642A-C6CE-2207-652F4877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EEF80-DAB5-A89E-B08E-81B1EC272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080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15374-2B03-300A-A050-6EDEEC49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3A9199-769C-116F-5170-E6CDED95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448470-EC58-5AD2-5440-CEB3409EC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D842E0-A68F-3BBF-EA42-2A96B532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8F67D8-7E42-6673-6647-B7A8915DC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84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527AE-DC7B-047A-55E9-6685CEADA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2931E3-4AA4-3A77-BF99-6FC162949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D8AB40-0390-056E-CF03-807F71C6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53D6C4-C033-7AD4-1B1D-3D7D5994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683E6F-66F5-096C-FDAE-8EF2BA8B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38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D8F0C-821D-1FD9-2033-561C14A2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65558-0ACC-7431-C4BC-133B9BF699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E801B8-A3D4-1146-88A2-7D5FD36CC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2B1C3-0353-A3EC-78E8-6458BF98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8DA58A-C0C7-F5EE-3657-2A43612E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BDBC5D-424E-54BA-CB97-98161029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65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323F6-6879-FD7E-E7C5-86C0D2B6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2B73B4-8EE5-1FE2-F2F7-A5D5CE20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8B3ABA-FAC8-389A-F3E2-8DB91136F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A1E458-568C-A8F1-2A77-1BFF1CA78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55893A2-C1CD-9435-2F05-F801C33F4C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FF0BA0-4062-11DA-A9FE-4B1CDDE0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3DE40B-DF20-F2F2-DFAB-A8FEF032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8A245A-EC2E-AC30-E49F-87BEDCEE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622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C00E-3E36-19A4-F029-387A75C1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B2840B-F933-B907-D3A2-47A7CD7C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9718798-DB98-08F8-E6BC-B4649013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D0C905-F51E-65DA-BD1E-BB58A79A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6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964176B-1BB3-F279-60F9-228E28183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957B39-4FA5-1923-2252-159BE891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1D2564-484D-EBC6-A0D6-F58EDDD5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65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23489-3067-A88F-2D79-B7C588D7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EF2B7C-4BB7-1285-5233-4C4112BB7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7EB988-619B-0256-BE6F-9D15D3523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6549F6-C630-1062-FDF9-6B482A5D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68960F-9BFA-D276-7B9D-C2A37BF5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EE0496-797F-66F3-4844-0064E546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37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15CC9-9956-6696-A688-7F8F733D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2522B2-C73A-0806-87BE-179D20D018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32208D-AB56-22ED-0483-A2B851F6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7DE099-9F84-4DF9-DBC4-BDD90585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D04969-15BD-9925-478B-A0EE0A00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DA5364-FD89-B2CC-4A7D-9906C3FC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21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CCBBC-276B-784B-D68A-310A095DE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2DEB3D-586E-4DFF-3F94-6421DD110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F7221-EE2C-DEF5-E290-8C51CFB8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1F9AA0-0B6B-9CAE-FA0D-29C25988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59674-D708-7593-1005-EB2C46F7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647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E85EAA-7500-A263-1BE3-BC834DA7B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E0289D-A502-9372-209E-AB177403E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91657-6F41-33A0-8944-7E683B02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9F8C7E-C99D-A7CC-E90B-83CA6CF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598527-35A8-2F64-55FD-D4E04410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8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1051C-71FD-4738-010F-70409825F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EAA8F-FA26-C9E3-A71E-65CD7D8A5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D5CDC3-CFC0-34BB-8EFC-8D78316F3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D964C-298E-4A11-B8BE-BD8957257E58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0787C-2D11-5437-A79F-251342028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5E4FD4-80BF-5075-3094-20B9C3752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C0482-4077-4EFE-A908-7B6A7CDDD9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3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93D2212-DF7B-82A9-60B9-E9F4C03B1FA2}"/>
              </a:ext>
            </a:extLst>
          </p:cNvPr>
          <p:cNvSpPr/>
          <p:nvPr/>
        </p:nvSpPr>
        <p:spPr>
          <a:xfrm>
            <a:off x="0" y="-7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2406ABD0-C511-13D5-42A7-8BC7D25E77AD}"/>
              </a:ext>
            </a:extLst>
          </p:cNvPr>
          <p:cNvSpPr/>
          <p:nvPr/>
        </p:nvSpPr>
        <p:spPr>
          <a:xfrm>
            <a:off x="-6490318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D453F1F2-CB11-9FEB-BE90-55BD92CF5D5A}"/>
              </a:ext>
            </a:extLst>
          </p:cNvPr>
          <p:cNvSpPr/>
          <p:nvPr/>
        </p:nvSpPr>
        <p:spPr>
          <a:xfrm>
            <a:off x="-6490318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98E747DB-5329-1E47-C10D-FD945E143492}"/>
              </a:ext>
            </a:extLst>
          </p:cNvPr>
          <p:cNvSpPr/>
          <p:nvPr/>
        </p:nvSpPr>
        <p:spPr>
          <a:xfrm>
            <a:off x="-6490318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50F9FAF3-03DF-F777-1E10-2EAB8707FB71}"/>
              </a:ext>
            </a:extLst>
          </p:cNvPr>
          <p:cNvSpPr/>
          <p:nvPr/>
        </p:nvSpPr>
        <p:spPr>
          <a:xfrm>
            <a:off x="-649031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973B2ED8-E917-7E8D-F6D6-1A8BCB1964D3}"/>
              </a:ext>
            </a:extLst>
          </p:cNvPr>
          <p:cNvSpPr/>
          <p:nvPr/>
        </p:nvSpPr>
        <p:spPr>
          <a:xfrm>
            <a:off x="-6490318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E89D8D76-CE65-7224-1B55-A86C78CFAF07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C80EFF-E63B-4DB6-5FD8-893D08753E49}"/>
              </a:ext>
            </a:extLst>
          </p:cNvPr>
          <p:cNvSpPr txBox="1"/>
          <p:nvPr/>
        </p:nvSpPr>
        <p:spPr>
          <a:xfrm rot="5400000">
            <a:off x="-8544698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8473FA-ADB7-C469-CF04-2965FF8EFA33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384CA2-01B9-D3A9-CF67-1DA0CF7F07CA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ECD10D2-33C1-81AF-51C4-AE095F6CE0BE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D5EEBD-9F37-160E-5A3E-153F19C7A8E4}"/>
              </a:ext>
            </a:extLst>
          </p:cNvPr>
          <p:cNvSpPr txBox="1"/>
          <p:nvPr/>
        </p:nvSpPr>
        <p:spPr>
          <a:xfrm>
            <a:off x="-6490318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401D93-99CF-D2D2-E44B-E8ACDAC77479}"/>
              </a:ext>
            </a:extLst>
          </p:cNvPr>
          <p:cNvSpPr txBox="1"/>
          <p:nvPr/>
        </p:nvSpPr>
        <p:spPr>
          <a:xfrm>
            <a:off x="-6490318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082464-D1D6-C19D-BA96-C4BE94D2B8F0}"/>
              </a:ext>
            </a:extLst>
          </p:cNvPr>
          <p:cNvSpPr txBox="1"/>
          <p:nvPr/>
        </p:nvSpPr>
        <p:spPr>
          <a:xfrm>
            <a:off x="2731580" y="2486206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+mj-lt"/>
              </a:rPr>
              <a:t>РАЗРАБОТКА ОБУЧАЮЩЕЙ ПРОГРАММЫ «ТРЕНАЖЕР ДЛЯ ИЗУЧЕНИЯ ИНОСТРАННЫХ СЛОВ»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A4AC6-30DC-F276-E361-F045953C7D2F}"/>
              </a:ext>
            </a:extLst>
          </p:cNvPr>
          <p:cNvSpPr txBox="1"/>
          <p:nvPr/>
        </p:nvSpPr>
        <p:spPr>
          <a:xfrm>
            <a:off x="2519475" y="252860"/>
            <a:ext cx="832453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ФЕДЕРАЛЬНОЕ ГОСУДАРСТВЕННОЕ БЮДЖЕТНОЕ ОБРАЗОВАТЕЛЬНОЕ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УЧРЕЖДЕНИЕ ВЫСШЕГО ОБРАЗОВАНИЯ</a:t>
            </a:r>
            <a:b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</a:b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«САНКТ-ПЕТЕРБУРГСКИЙ ГОСУДАРСТВЕННЫЙ УНИВЕРСИТЕТ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ТЕЛЕКОММУНИКАЦИЙ ИМ. ПРОФ. М.А. БОНЧ-БРУЕВИЧА»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(СПбГУТ)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АРХАНГЕЛЬСКИЙ КОЛЛЕДЖ ТЕЛЕКОММУНИКАЦИЙ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ИМ. Б.Л. РОЗИНГА (ФИЛИАЛ) СПбГУТ</a:t>
            </a:r>
            <a:r>
              <a:rPr lang="en-US" sz="1100" dirty="0">
                <a:solidFill>
                  <a:schemeClr val="bg1"/>
                </a:solidFill>
                <a:latin typeface="Benzin-Bold" panose="00000800000000000000" pitchFamily="2" charset="-52"/>
              </a:rPr>
              <a:t> </a:t>
            </a:r>
            <a:r>
              <a:rPr lang="ru-RU" sz="1100" dirty="0">
                <a:solidFill>
                  <a:schemeClr val="bg1"/>
                </a:solidFill>
                <a:latin typeface="Benzin-Bold" panose="00000800000000000000" pitchFamily="2" charset="-52"/>
              </a:rPr>
              <a:t>(АКТ (ф) СПбГУТ)</a:t>
            </a: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B272B-C3F3-80C8-2613-927B9EA40E19}"/>
              </a:ext>
            </a:extLst>
          </p:cNvPr>
          <p:cNvSpPr txBox="1"/>
          <p:nvPr/>
        </p:nvSpPr>
        <p:spPr>
          <a:xfrm>
            <a:off x="5151092" y="1351978"/>
            <a:ext cx="3116607" cy="73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ru-RU" sz="2800" dirty="0">
                <a:solidFill>
                  <a:schemeClr val="bg1"/>
                </a:solidFill>
                <a:latin typeface="Benzin-Bold" panose="00000800000000000000" pitchFamily="2" charset="-52"/>
              </a:rPr>
              <a:t>КУРСОВОЙ ПРОЕКТ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FA9D5-E2A6-8FC0-067B-58218FA4AA85}"/>
              </a:ext>
            </a:extLst>
          </p:cNvPr>
          <p:cNvSpPr txBox="1"/>
          <p:nvPr/>
        </p:nvSpPr>
        <p:spPr>
          <a:xfrm>
            <a:off x="2535972" y="4897915"/>
            <a:ext cx="6773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Студент группы ИСПП-21: Речицкий Александр Валентинович</a:t>
            </a:r>
          </a:p>
          <a:p>
            <a:r>
              <a:rPr lang="ru-RU" dirty="0">
                <a:solidFill>
                  <a:schemeClr val="bg1"/>
                </a:solidFill>
              </a:rPr>
              <a:t>Руководитель: </a:t>
            </a:r>
            <a:r>
              <a:rPr lang="ru-RU" dirty="0" err="1">
                <a:solidFill>
                  <a:schemeClr val="bg1"/>
                </a:solidFill>
              </a:rPr>
              <a:t>Маломан</a:t>
            </a:r>
            <a:r>
              <a:rPr lang="ru-RU" dirty="0">
                <a:solidFill>
                  <a:schemeClr val="bg1"/>
                </a:solidFill>
              </a:rPr>
              <a:t> Юлия Сергеевна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C0E96-1CBC-84CB-0203-71E69783FAF8}"/>
              </a:ext>
            </a:extLst>
          </p:cNvPr>
          <p:cNvSpPr txBox="1"/>
          <p:nvPr/>
        </p:nvSpPr>
        <p:spPr>
          <a:xfrm>
            <a:off x="5445077" y="6420474"/>
            <a:ext cx="2473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  <a:latin typeface="Benzin-Bold" panose="00000800000000000000" pitchFamily="2" charset="-52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4023970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3CEF-42D0-0F46-9105-237D42A46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34BB8C1-47E5-A2E3-9E4E-118B07D98E65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E4E9008-160D-C69F-4199-F740DEC54BDD}"/>
              </a:ext>
            </a:extLst>
          </p:cNvPr>
          <p:cNvSpPr/>
          <p:nvPr/>
        </p:nvSpPr>
        <p:spPr>
          <a:xfrm>
            <a:off x="3561019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hlinkClick r:id="rId2" action="ppaction://hlinksldjump"/>
            <a:extLst>
              <a:ext uri="{FF2B5EF4-FFF2-40B4-BE49-F238E27FC236}">
                <a16:creationId xmlns:a16="http://schemas.microsoft.com/office/drawing/2014/main" id="{8633A2FE-509F-A774-822D-A9B65A7C4AF3}"/>
              </a:ext>
            </a:extLst>
          </p:cNvPr>
          <p:cNvSpPr/>
          <p:nvPr/>
        </p:nvSpPr>
        <p:spPr>
          <a:xfrm>
            <a:off x="1548551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hlinkClick r:id="rId3" action="ppaction://hlinksldjump"/>
            <a:extLst>
              <a:ext uri="{FF2B5EF4-FFF2-40B4-BE49-F238E27FC236}">
                <a16:creationId xmlns:a16="http://schemas.microsoft.com/office/drawing/2014/main" id="{77497CAF-239F-B977-ABD1-A8A52B6DE0B3}"/>
              </a:ext>
            </a:extLst>
          </p:cNvPr>
          <p:cNvSpPr/>
          <p:nvPr/>
        </p:nvSpPr>
        <p:spPr>
          <a:xfrm>
            <a:off x="-460249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hlinkClick r:id="rId4" action="ppaction://hlinksldjump"/>
            <a:extLst>
              <a:ext uri="{FF2B5EF4-FFF2-40B4-BE49-F238E27FC236}">
                <a16:creationId xmlns:a16="http://schemas.microsoft.com/office/drawing/2014/main" id="{9D4B5BE6-EEE4-540B-C308-A2F83BA32F27}"/>
              </a:ext>
            </a:extLst>
          </p:cNvPr>
          <p:cNvSpPr/>
          <p:nvPr/>
        </p:nvSpPr>
        <p:spPr>
          <a:xfrm>
            <a:off x="-249116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hlinkClick r:id="rId5" action="ppaction://hlinksldjump"/>
            <a:extLst>
              <a:ext uri="{FF2B5EF4-FFF2-40B4-BE49-F238E27FC236}">
                <a16:creationId xmlns:a16="http://schemas.microsoft.com/office/drawing/2014/main" id="{66614595-8477-B7E0-C45F-09E5AFA99763}"/>
              </a:ext>
            </a:extLst>
          </p:cNvPr>
          <p:cNvSpPr/>
          <p:nvPr/>
        </p:nvSpPr>
        <p:spPr>
          <a:xfrm>
            <a:off x="-4490743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319F6782-DABB-658B-528D-D06D69351C57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4514A-6822-75A0-79E4-D555C0D55D6F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96126-07BA-5EBA-15B3-FA810A5DCAB1}"/>
              </a:ext>
            </a:extLst>
          </p:cNvPr>
          <p:cNvSpPr txBox="1"/>
          <p:nvPr/>
        </p:nvSpPr>
        <p:spPr>
          <a:xfrm>
            <a:off x="2800490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1</a:t>
            </a:r>
          </a:p>
          <a:p>
            <a:pPr algn="ctr"/>
            <a:r>
              <a:rPr lang="ru-RU" sz="4400" dirty="0">
                <a:ln w="0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часть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62393-EC08-CC23-CE83-F9A98257AF7D}"/>
              </a:ext>
            </a:extLst>
          </p:cNvPr>
          <p:cNvSpPr txBox="1"/>
          <p:nvPr/>
        </p:nvSpPr>
        <p:spPr>
          <a:xfrm>
            <a:off x="4800065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668D2-C7C6-D2A2-2968-00E25ED90A15}"/>
              </a:ext>
            </a:extLst>
          </p:cNvPr>
          <p:cNvSpPr txBox="1"/>
          <p:nvPr/>
        </p:nvSpPr>
        <p:spPr>
          <a:xfrm>
            <a:off x="6832894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05956F-188B-3036-001E-5F30D0959342}"/>
              </a:ext>
            </a:extLst>
          </p:cNvPr>
          <p:cNvSpPr txBox="1"/>
          <p:nvPr/>
        </p:nvSpPr>
        <p:spPr>
          <a:xfrm>
            <a:off x="8839784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</p:spTree>
    <p:extLst>
      <p:ext uri="{BB962C8B-B14F-4D97-AF65-F5344CB8AC3E}">
        <p14:creationId xmlns:p14="http://schemas.microsoft.com/office/powerpoint/2010/main" val="1340603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03DF0B-A95F-A0DB-F373-954A7910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570D633-57B5-270F-B316-4E544B253512}"/>
              </a:ext>
            </a:extLst>
          </p:cNvPr>
          <p:cNvSpPr/>
          <p:nvPr/>
        </p:nvSpPr>
        <p:spPr>
          <a:xfrm>
            <a:off x="353962" y="1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720F2FB7-0D45-2521-5074-9EC70DA6A1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35123" y="-1199386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09D2FAD-0B1A-9FC3-560A-9AF4BB1867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22655" y="-1199384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3F780843-0A7D-FE7E-66B4-24223ED40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38567" y="-1199390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F192BC51-71E2-2A9A-2725-601EE69A19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07648" y="-1199392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226EAD51-7567-41B8-F2EE-9321C37A4A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08882" y="-1199392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B10456B0-46F2-313B-6E72-E0E5E631FB3C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9C76CE-1C46-AB17-F8DB-FFE497DB5AF7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2254D4-68BE-C90E-FDAA-91A2BF49FAED}"/>
              </a:ext>
            </a:extLst>
          </p:cNvPr>
          <p:cNvSpPr txBox="1"/>
          <p:nvPr/>
        </p:nvSpPr>
        <p:spPr>
          <a:xfrm>
            <a:off x="1420145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Актуальность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39440-39AB-0B19-8ACA-DACBC50DDDF2}"/>
              </a:ext>
            </a:extLst>
          </p:cNvPr>
          <p:cNvSpPr txBox="1"/>
          <p:nvPr/>
        </p:nvSpPr>
        <p:spPr>
          <a:xfrm>
            <a:off x="2063088" y="1089397"/>
            <a:ext cx="662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Автоматизация обучения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A3AFBB-5760-F26A-0916-EFC1A37D63DB}"/>
              </a:ext>
            </a:extLst>
          </p:cNvPr>
          <p:cNvSpPr txBox="1"/>
          <p:nvPr/>
        </p:nvSpPr>
        <p:spPr>
          <a:xfrm>
            <a:off x="2010138" y="1718931"/>
            <a:ext cx="7019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Промышленные</a:t>
            </a:r>
            <a:r>
              <a:rPr lang="ru-RU" sz="32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стандарты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BDF82A-5EBC-3001-7FE7-672FD3B89B53}"/>
              </a:ext>
            </a:extLst>
          </p:cNvPr>
          <p:cNvSpPr txBox="1"/>
          <p:nvPr/>
        </p:nvSpPr>
        <p:spPr>
          <a:xfrm>
            <a:off x="2020060" y="2356583"/>
            <a:ext cx="590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Масштабируемость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B11131D-E239-596C-1BE8-0E554D5D57DC}"/>
              </a:ext>
            </a:extLst>
          </p:cNvPr>
          <p:cNvSpPr/>
          <p:nvPr/>
        </p:nvSpPr>
        <p:spPr>
          <a:xfrm>
            <a:off x="2727902" y="1327964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7CB3583-8952-9E49-8722-867F3FC2BF38}"/>
              </a:ext>
            </a:extLst>
          </p:cNvPr>
          <p:cNvSpPr/>
          <p:nvPr/>
        </p:nvSpPr>
        <p:spPr>
          <a:xfrm>
            <a:off x="2762887" y="1957498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E29BBCF3-A130-CDDE-F7C4-ACC38E28CB69}"/>
              </a:ext>
            </a:extLst>
          </p:cNvPr>
          <p:cNvSpPr/>
          <p:nvPr/>
        </p:nvSpPr>
        <p:spPr>
          <a:xfrm>
            <a:off x="2812982" y="2633388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63930C-4366-7691-9313-9D28D2A79E17}"/>
              </a:ext>
            </a:extLst>
          </p:cNvPr>
          <p:cNvSpPr txBox="1"/>
          <p:nvPr/>
        </p:nvSpPr>
        <p:spPr>
          <a:xfrm>
            <a:off x="2608691" y="3278551"/>
            <a:ext cx="1812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Цель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25A922-7D91-F532-0744-1FF72FE147B9}"/>
              </a:ext>
            </a:extLst>
          </p:cNvPr>
          <p:cNvSpPr txBox="1"/>
          <p:nvPr/>
        </p:nvSpPr>
        <p:spPr>
          <a:xfrm>
            <a:off x="2980711" y="4107115"/>
            <a:ext cx="49406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Разработать ПО на 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.NET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4F513A-462C-52DD-D53E-CAC15A8869BA}"/>
              </a:ext>
            </a:extLst>
          </p:cNvPr>
          <p:cNvSpPr txBox="1"/>
          <p:nvPr/>
        </p:nvSpPr>
        <p:spPr>
          <a:xfrm>
            <a:off x="2949062" y="4689975"/>
            <a:ext cx="39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MVVM </a:t>
            </a:r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архитектура</a:t>
            </a:r>
            <a:endParaRPr lang="ru-RU" sz="32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9B9CAA-8159-B056-BB31-0A89A8A13019}"/>
              </a:ext>
            </a:extLst>
          </p:cNvPr>
          <p:cNvSpPr txBox="1"/>
          <p:nvPr/>
        </p:nvSpPr>
        <p:spPr>
          <a:xfrm>
            <a:off x="1768693" y="5262172"/>
            <a:ext cx="590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Контейнеризация</a:t>
            </a: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6D46F03-2872-2BA8-5361-71D3CFC3AE38}"/>
              </a:ext>
            </a:extLst>
          </p:cNvPr>
          <p:cNvSpPr/>
          <p:nvPr/>
        </p:nvSpPr>
        <p:spPr>
          <a:xfrm flipH="1">
            <a:off x="2836673" y="4338840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2F666C92-9740-BAF5-F2FF-506559ECA4FE}"/>
              </a:ext>
            </a:extLst>
          </p:cNvPr>
          <p:cNvSpPr/>
          <p:nvPr/>
        </p:nvSpPr>
        <p:spPr>
          <a:xfrm flipH="1">
            <a:off x="2760473" y="5494342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7C008688-D69D-6106-C19D-8508372511C4}"/>
              </a:ext>
            </a:extLst>
          </p:cNvPr>
          <p:cNvSpPr/>
          <p:nvPr/>
        </p:nvSpPr>
        <p:spPr>
          <a:xfrm flipH="1">
            <a:off x="2787742" y="4914875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C276D859-AC9C-FFBC-70E4-B22A52D95F0B}"/>
              </a:ext>
            </a:extLst>
          </p:cNvPr>
          <p:cNvCxnSpPr/>
          <p:nvPr/>
        </p:nvCxnSpPr>
        <p:spPr>
          <a:xfrm>
            <a:off x="2989073" y="3189651"/>
            <a:ext cx="4735722" cy="0"/>
          </a:xfrm>
          <a:prstGeom prst="line">
            <a:avLst/>
          </a:prstGeom>
          <a:ln>
            <a:solidFill>
              <a:srgbClr val="D2B7E9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99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8DF050-0536-66A1-94F1-455CFBC58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363187F-F5B4-ABB8-DA03-736F8A09A50E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181F383-DABA-1522-4671-5A3592857C13}"/>
              </a:ext>
            </a:extLst>
          </p:cNvPr>
          <p:cNvSpPr/>
          <p:nvPr/>
        </p:nvSpPr>
        <p:spPr>
          <a:xfrm>
            <a:off x="5386942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DD29DC27-BCEF-0B68-FE03-6C3E3F52FDB6}"/>
              </a:ext>
            </a:extLst>
          </p:cNvPr>
          <p:cNvSpPr/>
          <p:nvPr/>
        </p:nvSpPr>
        <p:spPr>
          <a:xfrm>
            <a:off x="3374474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76CA9D32-A519-CF68-2C54-FAAFE060DF37}"/>
              </a:ext>
            </a:extLst>
          </p:cNvPr>
          <p:cNvSpPr/>
          <p:nvPr/>
        </p:nvSpPr>
        <p:spPr>
          <a:xfrm>
            <a:off x="1565572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6548AA50-ECF6-F174-5566-C16A38366682}"/>
              </a:ext>
            </a:extLst>
          </p:cNvPr>
          <p:cNvSpPr/>
          <p:nvPr/>
        </p:nvSpPr>
        <p:spPr>
          <a:xfrm>
            <a:off x="-277370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A997600D-AF10-D653-33C9-EABFD9FC4A6D}"/>
              </a:ext>
            </a:extLst>
          </p:cNvPr>
          <p:cNvSpPr/>
          <p:nvPr/>
        </p:nvSpPr>
        <p:spPr>
          <a:xfrm>
            <a:off x="-6251059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93882304-45BC-423F-44E3-0C441206069C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E8129B-0E56-2F20-A501-CEA6DC4F5A43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B6671-74BC-86AA-6FCC-F2F5CC9C7E4C}"/>
              </a:ext>
            </a:extLst>
          </p:cNvPr>
          <p:cNvSpPr txBox="1"/>
          <p:nvPr/>
        </p:nvSpPr>
        <p:spPr>
          <a:xfrm>
            <a:off x="8879332" y="2387173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A0BBB-A251-D049-3254-FFE6F196051D}"/>
              </a:ext>
            </a:extLst>
          </p:cNvPr>
          <p:cNvSpPr txBox="1"/>
          <p:nvPr/>
        </p:nvSpPr>
        <p:spPr>
          <a:xfrm>
            <a:off x="10665707" y="2391015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0CF09-6249-B08B-5FD5-061E8348F8D3}"/>
              </a:ext>
            </a:extLst>
          </p:cNvPr>
          <p:cNvSpPr txBox="1"/>
          <p:nvPr/>
        </p:nvSpPr>
        <p:spPr>
          <a:xfrm>
            <a:off x="12510614" y="2407130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A6169-0E3E-B44B-923A-5EA2DC9B5C37}"/>
              </a:ext>
            </a:extLst>
          </p:cNvPr>
          <p:cNvSpPr txBox="1"/>
          <p:nvPr/>
        </p:nvSpPr>
        <p:spPr>
          <a:xfrm>
            <a:off x="1420145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Архитектура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34D41A-053B-B5FC-1ED8-F75A3B65EFEE}"/>
              </a:ext>
            </a:extLst>
          </p:cNvPr>
          <p:cNvSpPr txBox="1"/>
          <p:nvPr/>
        </p:nvSpPr>
        <p:spPr>
          <a:xfrm>
            <a:off x="2749203" y="1080954"/>
            <a:ext cx="1553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Model: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1E358-D140-1FFA-D797-EA4B30267B41}"/>
              </a:ext>
            </a:extLst>
          </p:cNvPr>
          <p:cNvSpPr txBox="1"/>
          <p:nvPr/>
        </p:nvSpPr>
        <p:spPr>
          <a:xfrm>
            <a:off x="2917790" y="1632835"/>
            <a:ext cx="538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Хранение данных и логика работы с БД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9CD9EC-2CD0-42C0-011C-420BBD3FA259}"/>
              </a:ext>
            </a:extLst>
          </p:cNvPr>
          <p:cNvSpPr txBox="1"/>
          <p:nvPr/>
        </p:nvSpPr>
        <p:spPr>
          <a:xfrm>
            <a:off x="3070519" y="2083044"/>
            <a:ext cx="3999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Независимость интерфейса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FDA39F-24DC-097C-5118-94BEC726CB2D}"/>
              </a:ext>
            </a:extLst>
          </p:cNvPr>
          <p:cNvSpPr txBox="1"/>
          <p:nvPr/>
        </p:nvSpPr>
        <p:spPr>
          <a:xfrm>
            <a:off x="3224648" y="2751986"/>
            <a:ext cx="241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ViewModel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D7B785-F2B2-FCBC-1AB8-EF7DE2DB8555}"/>
              </a:ext>
            </a:extLst>
          </p:cNvPr>
          <p:cNvSpPr txBox="1"/>
          <p:nvPr/>
        </p:nvSpPr>
        <p:spPr>
          <a:xfrm>
            <a:off x="3278659" y="3283567"/>
            <a:ext cx="5006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Связующее звено через 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Data Binding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781DE3-5FCE-0CAF-0145-92FA6D579A14}"/>
              </a:ext>
            </a:extLst>
          </p:cNvPr>
          <p:cNvSpPr txBox="1"/>
          <p:nvPr/>
        </p:nvSpPr>
        <p:spPr>
          <a:xfrm>
            <a:off x="3273422" y="3727287"/>
            <a:ext cx="4475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Обработка команд пользователя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DE8164-548E-E5C1-F06B-EDF02A6D54C2}"/>
              </a:ext>
            </a:extLst>
          </p:cNvPr>
          <p:cNvSpPr txBox="1"/>
          <p:nvPr/>
        </p:nvSpPr>
        <p:spPr>
          <a:xfrm>
            <a:off x="3042535" y="4517469"/>
            <a:ext cx="1291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View: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93563094-3A4D-1589-34A5-634D615F9E96}"/>
              </a:ext>
            </a:extLst>
          </p:cNvPr>
          <p:cNvGrpSpPr/>
          <p:nvPr/>
        </p:nvGrpSpPr>
        <p:grpSpPr>
          <a:xfrm>
            <a:off x="2646141" y="1334627"/>
            <a:ext cx="639184" cy="4012493"/>
            <a:chOff x="2646141" y="1334627"/>
            <a:chExt cx="639184" cy="4012493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3D6D2113-B24C-7CF0-E5C6-1AA973FCA086}"/>
                </a:ext>
              </a:extLst>
            </p:cNvPr>
            <p:cNvSpPr/>
            <p:nvPr/>
          </p:nvSpPr>
          <p:spPr>
            <a:xfrm>
              <a:off x="2818850" y="1787468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C4A14440-1107-0932-EB18-E1D48FF213EF}"/>
                </a:ext>
              </a:extLst>
            </p:cNvPr>
            <p:cNvSpPr/>
            <p:nvPr/>
          </p:nvSpPr>
          <p:spPr>
            <a:xfrm>
              <a:off x="2646141" y="1334627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48D61556-DBEE-8B5A-5632-313CDFC1E120}"/>
                </a:ext>
              </a:extLst>
            </p:cNvPr>
            <p:cNvSpPr/>
            <p:nvPr/>
          </p:nvSpPr>
          <p:spPr>
            <a:xfrm>
              <a:off x="2982139" y="2253651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49A90C12-BBEA-C330-A400-474279A56817}"/>
                </a:ext>
              </a:extLst>
            </p:cNvPr>
            <p:cNvSpPr/>
            <p:nvPr/>
          </p:nvSpPr>
          <p:spPr>
            <a:xfrm>
              <a:off x="3045010" y="2998952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C4A8750D-7858-3223-B596-98EE7A21C88A}"/>
                </a:ext>
              </a:extLst>
            </p:cNvPr>
            <p:cNvSpPr/>
            <p:nvPr/>
          </p:nvSpPr>
          <p:spPr>
            <a:xfrm>
              <a:off x="3132925" y="3436863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8625A92A-3395-EB9F-BD97-53C5D65908BD}"/>
                </a:ext>
              </a:extLst>
            </p:cNvPr>
            <p:cNvSpPr/>
            <p:nvPr/>
          </p:nvSpPr>
          <p:spPr>
            <a:xfrm>
              <a:off x="3093743" y="3889918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D83D601-8711-2D20-2855-DEC1BF194EDE}"/>
                </a:ext>
              </a:extLst>
            </p:cNvPr>
            <p:cNvSpPr/>
            <p:nvPr/>
          </p:nvSpPr>
          <p:spPr>
            <a:xfrm>
              <a:off x="2862897" y="4764435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B853A1A8-4532-50D4-DE21-57AF15D9FD7E}"/>
                </a:ext>
              </a:extLst>
            </p:cNvPr>
            <p:cNvSpPr/>
            <p:nvPr/>
          </p:nvSpPr>
          <p:spPr>
            <a:xfrm>
              <a:off x="2717023" y="5194720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CDAA679-FF8B-6A00-4E07-A021682C3D38}"/>
              </a:ext>
            </a:extLst>
          </p:cNvPr>
          <p:cNvSpPr txBox="1"/>
          <p:nvPr/>
        </p:nvSpPr>
        <p:spPr>
          <a:xfrm>
            <a:off x="2862897" y="5034252"/>
            <a:ext cx="4142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Графическая оболочка (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XAML)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4CE5CA47-8655-750D-5B64-1B8B6B7E9B4A}"/>
              </a:ext>
            </a:extLst>
          </p:cNvPr>
          <p:cNvCxnSpPr/>
          <p:nvPr/>
        </p:nvCxnSpPr>
        <p:spPr>
          <a:xfrm>
            <a:off x="3093743" y="2663086"/>
            <a:ext cx="4735722" cy="0"/>
          </a:xfrm>
          <a:prstGeom prst="line">
            <a:avLst/>
          </a:prstGeom>
          <a:ln>
            <a:solidFill>
              <a:srgbClr val="BA90DD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D92A4E1-510C-21A6-9CE1-B1A98637B8EA}"/>
              </a:ext>
            </a:extLst>
          </p:cNvPr>
          <p:cNvCxnSpPr/>
          <p:nvPr/>
        </p:nvCxnSpPr>
        <p:spPr>
          <a:xfrm>
            <a:off x="3042535" y="4352186"/>
            <a:ext cx="4735722" cy="0"/>
          </a:xfrm>
          <a:prstGeom prst="line">
            <a:avLst/>
          </a:prstGeom>
          <a:ln>
            <a:solidFill>
              <a:srgbClr val="BA90DD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5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0670E37-42B3-E386-DD9C-FC9B6AEC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3E5C6F4-9755-FBB9-4CE9-B6976C2DAA2D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E82473B2-1616-6F27-FABF-A52686A31617}"/>
              </a:ext>
            </a:extLst>
          </p:cNvPr>
          <p:cNvSpPr/>
          <p:nvPr/>
        </p:nvSpPr>
        <p:spPr>
          <a:xfrm>
            <a:off x="4578934" y="-1199395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05D70920-D8AA-DDDD-D74D-B4C42239D2C7}"/>
              </a:ext>
            </a:extLst>
          </p:cNvPr>
          <p:cNvSpPr/>
          <p:nvPr/>
        </p:nvSpPr>
        <p:spPr>
          <a:xfrm>
            <a:off x="2566466" y="-1199393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AEE597E4-3F2E-4E40-E4B1-5769EF6E9CE4}"/>
              </a:ext>
            </a:extLst>
          </p:cNvPr>
          <p:cNvSpPr/>
          <p:nvPr/>
        </p:nvSpPr>
        <p:spPr>
          <a:xfrm>
            <a:off x="97147" y="-1199395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0D7137E5-8A89-6DBE-BCDE-EA2B5E323271}"/>
              </a:ext>
            </a:extLst>
          </p:cNvPr>
          <p:cNvSpPr/>
          <p:nvPr/>
        </p:nvSpPr>
        <p:spPr>
          <a:xfrm>
            <a:off x="-6034517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BFD901B1-90C1-09DA-8BD9-FBD59111B496}"/>
              </a:ext>
            </a:extLst>
          </p:cNvPr>
          <p:cNvSpPr/>
          <p:nvPr/>
        </p:nvSpPr>
        <p:spPr>
          <a:xfrm>
            <a:off x="-6258360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5B537B8A-5271-DFFF-7136-8D7B6A927E33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B98CC-577F-E2E8-AD7A-5F49375EDD5E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3E4B3-7E69-1855-6F77-AF48B191EEF6}"/>
              </a:ext>
            </a:extLst>
          </p:cNvPr>
          <p:cNvSpPr txBox="1"/>
          <p:nvPr/>
        </p:nvSpPr>
        <p:spPr>
          <a:xfrm>
            <a:off x="9629099" y="2391009"/>
            <a:ext cx="1521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</a:p>
          <a:p>
            <a:pPr algn="ctr"/>
            <a:r>
              <a:rPr lang="ru-RU" sz="4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часть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8E4524-4123-194A-FF1B-48833B8A528E}"/>
              </a:ext>
            </a:extLst>
          </p:cNvPr>
          <p:cNvSpPr txBox="1"/>
          <p:nvPr/>
        </p:nvSpPr>
        <p:spPr>
          <a:xfrm>
            <a:off x="1860230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Стек технологий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DB03F-338C-9B95-F899-5BAE8865D96D}"/>
              </a:ext>
            </a:extLst>
          </p:cNvPr>
          <p:cNvSpPr txBox="1"/>
          <p:nvPr/>
        </p:nvSpPr>
        <p:spPr>
          <a:xfrm>
            <a:off x="3208196" y="1080954"/>
            <a:ext cx="386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Платформа и язык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4E3A7-44EC-EF17-CDC4-8F8C6A174665}"/>
              </a:ext>
            </a:extLst>
          </p:cNvPr>
          <p:cNvSpPr txBox="1"/>
          <p:nvPr/>
        </p:nvSpPr>
        <p:spPr>
          <a:xfrm>
            <a:off x="3308714" y="1622179"/>
            <a:ext cx="1726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.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NET 8. C#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ABF3A-2AAD-0313-BAB6-F576E1117B71}"/>
              </a:ext>
            </a:extLst>
          </p:cNvPr>
          <p:cNvSpPr txBox="1"/>
          <p:nvPr/>
        </p:nvSpPr>
        <p:spPr>
          <a:xfrm>
            <a:off x="3439139" y="2037677"/>
            <a:ext cx="941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WPF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5FD5D-BB01-1333-0847-E44CBF12D801}"/>
              </a:ext>
            </a:extLst>
          </p:cNvPr>
          <p:cNvSpPr txBox="1"/>
          <p:nvPr/>
        </p:nvSpPr>
        <p:spPr>
          <a:xfrm>
            <a:off x="3507534" y="2538219"/>
            <a:ext cx="38654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Работа с данными: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F58B0C-95EF-99A6-5138-008F9CA08A45}"/>
              </a:ext>
            </a:extLst>
          </p:cNvPr>
          <p:cNvSpPr txBox="1"/>
          <p:nvPr/>
        </p:nvSpPr>
        <p:spPr>
          <a:xfrm>
            <a:off x="3356474" y="4383930"/>
            <a:ext cx="3294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Развёртывание: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C1BFD3-84A5-9EB8-125E-C9EF53CAF996}"/>
              </a:ext>
            </a:extLst>
          </p:cNvPr>
          <p:cNvSpPr txBox="1"/>
          <p:nvPr/>
        </p:nvSpPr>
        <p:spPr>
          <a:xfrm>
            <a:off x="3534359" y="3128338"/>
            <a:ext cx="3019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Entity Framework Core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0CC3D-B816-488B-ED6F-88ED94F579B9}"/>
              </a:ext>
            </a:extLst>
          </p:cNvPr>
          <p:cNvSpPr txBox="1"/>
          <p:nvPr/>
        </p:nvSpPr>
        <p:spPr>
          <a:xfrm>
            <a:off x="3538951" y="3554215"/>
            <a:ext cx="446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ORM-</a:t>
            </a:r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система для безопасной работы с БД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1365B7-4F30-F700-E3CF-8086D8ACE5EF}"/>
              </a:ext>
            </a:extLst>
          </p:cNvPr>
          <p:cNvSpPr txBox="1"/>
          <p:nvPr/>
        </p:nvSpPr>
        <p:spPr>
          <a:xfrm>
            <a:off x="3553504" y="3884854"/>
            <a:ext cx="2682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Защита от </a:t>
            </a:r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SQL-</a:t>
            </a:r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инъекций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A7D13-E4E1-6626-B0D9-D31F75E81CD6}"/>
              </a:ext>
            </a:extLst>
          </p:cNvPr>
          <p:cNvSpPr txBox="1"/>
          <p:nvPr/>
        </p:nvSpPr>
        <p:spPr>
          <a:xfrm>
            <a:off x="3245661" y="4877042"/>
            <a:ext cx="106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Docker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0FA65C-D84E-74DC-17D2-989041D896C7}"/>
              </a:ext>
            </a:extLst>
          </p:cNvPr>
          <p:cNvSpPr txBox="1"/>
          <p:nvPr/>
        </p:nvSpPr>
        <p:spPr>
          <a:xfrm>
            <a:off x="3139655" y="5338707"/>
            <a:ext cx="277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Контейнеризация БД и </a:t>
            </a:r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API</a:t>
            </a:r>
            <a:endParaRPr lang="ru-RU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EE63A39-A239-3FC9-115C-7FE27CEDC88E}"/>
              </a:ext>
            </a:extLst>
          </p:cNvPr>
          <p:cNvGrpSpPr/>
          <p:nvPr/>
        </p:nvGrpSpPr>
        <p:grpSpPr>
          <a:xfrm>
            <a:off x="2837826" y="1334627"/>
            <a:ext cx="749993" cy="4609528"/>
            <a:chOff x="2837826" y="1334627"/>
            <a:chExt cx="749993" cy="4609528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E13F280B-3CD7-A27E-C58F-36516FFD68D1}"/>
                </a:ext>
              </a:extLst>
            </p:cNvPr>
            <p:cNvSpPr/>
            <p:nvPr/>
          </p:nvSpPr>
          <p:spPr>
            <a:xfrm>
              <a:off x="3105134" y="1334627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D1FB3D7C-FCC0-D25F-75AF-C692F955F834}"/>
                </a:ext>
              </a:extLst>
            </p:cNvPr>
            <p:cNvSpPr/>
            <p:nvPr/>
          </p:nvSpPr>
          <p:spPr>
            <a:xfrm>
              <a:off x="3209774" y="1776812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EB6DD7D6-620A-4515-9A33-ECD0F4D51496}"/>
                </a:ext>
              </a:extLst>
            </p:cNvPr>
            <p:cNvSpPr/>
            <p:nvPr/>
          </p:nvSpPr>
          <p:spPr>
            <a:xfrm>
              <a:off x="3340198" y="2192310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0F1BAECB-C5A4-1640-DF7F-6337CDE1BF04}"/>
                </a:ext>
              </a:extLst>
            </p:cNvPr>
            <p:cNvSpPr/>
            <p:nvPr/>
          </p:nvSpPr>
          <p:spPr>
            <a:xfrm>
              <a:off x="3404472" y="2791892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8B89CDE9-B2B2-6168-18AC-D863C0718404}"/>
                </a:ext>
              </a:extLst>
            </p:cNvPr>
            <p:cNvSpPr/>
            <p:nvPr/>
          </p:nvSpPr>
          <p:spPr>
            <a:xfrm>
              <a:off x="3227221" y="4630896"/>
              <a:ext cx="152400" cy="1524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E90949E0-41CF-FAF6-D26B-60F591D33141}"/>
                </a:ext>
              </a:extLst>
            </p:cNvPr>
            <p:cNvSpPr/>
            <p:nvPr/>
          </p:nvSpPr>
          <p:spPr>
            <a:xfrm>
              <a:off x="3435419" y="3282971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BBACBDC3-FA52-5AB7-BFDD-79187D34FDA7}"/>
                </a:ext>
              </a:extLst>
            </p:cNvPr>
            <p:cNvSpPr/>
            <p:nvPr/>
          </p:nvSpPr>
          <p:spPr>
            <a:xfrm>
              <a:off x="3427846" y="3654431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E8890705-C0FD-3665-D958-666FFBAD5F23}"/>
                </a:ext>
              </a:extLst>
            </p:cNvPr>
            <p:cNvSpPr/>
            <p:nvPr/>
          </p:nvSpPr>
          <p:spPr>
            <a:xfrm>
              <a:off x="3388711" y="3985070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8014E4C7-D8BD-A3C0-0313-5F640CADE00A}"/>
                </a:ext>
              </a:extLst>
            </p:cNvPr>
            <p:cNvSpPr/>
            <p:nvPr/>
          </p:nvSpPr>
          <p:spPr>
            <a:xfrm>
              <a:off x="3146720" y="5031675"/>
              <a:ext cx="152400" cy="1524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949C5A46-BFC0-3316-AA46-75B0235F5CFC}"/>
                </a:ext>
              </a:extLst>
            </p:cNvPr>
            <p:cNvSpPr/>
            <p:nvPr/>
          </p:nvSpPr>
          <p:spPr>
            <a:xfrm>
              <a:off x="2998578" y="5438923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1617FF74-76E2-E12C-23F8-BDFC6DC80566}"/>
                </a:ext>
              </a:extLst>
            </p:cNvPr>
            <p:cNvSpPr/>
            <p:nvPr/>
          </p:nvSpPr>
          <p:spPr>
            <a:xfrm>
              <a:off x="2837826" y="5791755"/>
              <a:ext cx="152400" cy="1524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18969BE-7651-CDDB-6C76-5C5833CEF0A6}"/>
              </a:ext>
            </a:extLst>
          </p:cNvPr>
          <p:cNvSpPr txBox="1"/>
          <p:nvPr/>
        </p:nvSpPr>
        <p:spPr>
          <a:xfrm>
            <a:off x="2978902" y="5691539"/>
            <a:ext cx="5154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Изоляция окружения и гарантия запуска на любой машине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AC062940-7235-8655-3FE0-BD13412A57BB}"/>
              </a:ext>
            </a:extLst>
          </p:cNvPr>
          <p:cNvCxnSpPr/>
          <p:nvPr/>
        </p:nvCxnSpPr>
        <p:spPr>
          <a:xfrm>
            <a:off x="3490551" y="2538219"/>
            <a:ext cx="4735722" cy="0"/>
          </a:xfrm>
          <a:prstGeom prst="line">
            <a:avLst/>
          </a:prstGeom>
          <a:ln>
            <a:solidFill>
              <a:srgbClr val="8942C5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948A58A-569D-F4E9-79D9-D80F93B2359D}"/>
              </a:ext>
            </a:extLst>
          </p:cNvPr>
          <p:cNvCxnSpPr/>
          <p:nvPr/>
        </p:nvCxnSpPr>
        <p:spPr>
          <a:xfrm>
            <a:off x="3356474" y="4369449"/>
            <a:ext cx="4735722" cy="0"/>
          </a:xfrm>
          <a:prstGeom prst="line">
            <a:avLst/>
          </a:prstGeom>
          <a:ln>
            <a:solidFill>
              <a:srgbClr val="8942C5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046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E61A1F-4051-29D4-04B3-B77FC74D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0958111-82F8-628E-7C47-A37F03B80314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36BA0ED-9FE4-2EA4-DD71-91FD8E351530}"/>
              </a:ext>
            </a:extLst>
          </p:cNvPr>
          <p:cNvSpPr/>
          <p:nvPr/>
        </p:nvSpPr>
        <p:spPr>
          <a:xfrm>
            <a:off x="3561019" y="-1199389"/>
            <a:ext cx="9094898" cy="9256773"/>
          </a:xfrm>
          <a:prstGeom prst="ellipse">
            <a:avLst/>
          </a:prstGeom>
          <a:solidFill>
            <a:srgbClr val="391A54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hlinkClick r:id="" action="ppaction://noaction"/>
            <a:extLst>
              <a:ext uri="{FF2B5EF4-FFF2-40B4-BE49-F238E27FC236}">
                <a16:creationId xmlns:a16="http://schemas.microsoft.com/office/drawing/2014/main" id="{DD9B76F0-7058-43F7-98A5-71B7A24425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7793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C552FF33-B528-1352-51C5-61F394A9EC07}"/>
              </a:ext>
            </a:extLst>
          </p:cNvPr>
          <p:cNvSpPr/>
          <p:nvPr/>
        </p:nvSpPr>
        <p:spPr>
          <a:xfrm>
            <a:off x="-5768808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2143B6EE-6520-9735-0B37-FDDB95E38507}"/>
              </a:ext>
            </a:extLst>
          </p:cNvPr>
          <p:cNvSpPr/>
          <p:nvPr/>
        </p:nvSpPr>
        <p:spPr>
          <a:xfrm>
            <a:off x="-6012098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C92C7E3D-98F1-6600-ECD1-6B114EA3C0E1}"/>
              </a:ext>
            </a:extLst>
          </p:cNvPr>
          <p:cNvSpPr/>
          <p:nvPr/>
        </p:nvSpPr>
        <p:spPr>
          <a:xfrm>
            <a:off x="-6258360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hlinkClick r:id="rId2" action="ppaction://hlinksldjump"/>
            <a:extLst>
              <a:ext uri="{FF2B5EF4-FFF2-40B4-BE49-F238E27FC236}">
                <a16:creationId xmlns:a16="http://schemas.microsoft.com/office/drawing/2014/main" id="{9C26202D-B185-EA65-895A-58F5BA4B2F55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E858D-64DE-60C2-CE07-DEFC4D83C0C5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F1B301-E1C3-8A9A-A4FA-796DBDE5E3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04580" y="194096"/>
            <a:ext cx="59013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ln w="0">
                  <a:solidFill>
                    <a:schemeClr val="accent5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Демонстрация 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A60E86CC-5FC5-23B8-1A5E-0DF03C547CC1}"/>
              </a:ext>
            </a:extLst>
          </p:cNvPr>
          <p:cNvSpPr/>
          <p:nvPr/>
        </p:nvSpPr>
        <p:spPr>
          <a:xfrm>
            <a:off x="3442069" y="190026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35D7BBC-B3BB-D8A4-6E56-85EB1A51BF83}"/>
              </a:ext>
            </a:extLst>
          </p:cNvPr>
          <p:cNvSpPr/>
          <p:nvPr/>
        </p:nvSpPr>
        <p:spPr>
          <a:xfrm>
            <a:off x="3272874" y="1375414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097E75-F52E-1324-9343-B365207C5235}"/>
              </a:ext>
            </a:extLst>
          </p:cNvPr>
          <p:cNvSpPr/>
          <p:nvPr/>
        </p:nvSpPr>
        <p:spPr>
          <a:xfrm>
            <a:off x="3572376" y="239986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1941F34E-4E39-0839-34D0-1D1212843A4B}"/>
              </a:ext>
            </a:extLst>
          </p:cNvPr>
          <p:cNvSpPr/>
          <p:nvPr/>
        </p:nvSpPr>
        <p:spPr>
          <a:xfrm>
            <a:off x="3606656" y="3131050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8C70476-12DF-3A33-43CA-A23C1ADA0BE5}"/>
              </a:ext>
            </a:extLst>
          </p:cNvPr>
          <p:cNvSpPr/>
          <p:nvPr/>
        </p:nvSpPr>
        <p:spPr>
          <a:xfrm>
            <a:off x="3619032" y="3588894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D7A0AB8-1414-EB2B-31F2-9CA7BFA1A881}"/>
              </a:ext>
            </a:extLst>
          </p:cNvPr>
          <p:cNvSpPr/>
          <p:nvPr/>
        </p:nvSpPr>
        <p:spPr>
          <a:xfrm>
            <a:off x="3542858" y="4078390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6430334-7670-D666-9E07-04BC0D0BB4DA}"/>
              </a:ext>
            </a:extLst>
          </p:cNvPr>
          <p:cNvSpPr/>
          <p:nvPr/>
        </p:nvSpPr>
        <p:spPr>
          <a:xfrm>
            <a:off x="3273305" y="5108461"/>
            <a:ext cx="152400" cy="152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3AA0440-BFEA-AADC-90F4-75E4C773B1E3}"/>
              </a:ext>
            </a:extLst>
          </p:cNvPr>
          <p:cNvSpPr/>
          <p:nvPr/>
        </p:nvSpPr>
        <p:spPr>
          <a:xfrm>
            <a:off x="3091406" y="5604332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9B3B76-7C35-5140-E815-270038642837}"/>
              </a:ext>
            </a:extLst>
          </p:cNvPr>
          <p:cNvSpPr txBox="1"/>
          <p:nvPr/>
        </p:nvSpPr>
        <p:spPr>
          <a:xfrm>
            <a:off x="3496514" y="1128448"/>
            <a:ext cx="3018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Безопасность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1E949-973E-3F48-AFA6-922BA1AC18D4}"/>
              </a:ext>
            </a:extLst>
          </p:cNvPr>
          <p:cNvSpPr txBox="1"/>
          <p:nvPr/>
        </p:nvSpPr>
        <p:spPr>
          <a:xfrm>
            <a:off x="3478160" y="1759810"/>
            <a:ext cx="629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Авторизация и аутентификация пользователя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E74887-0902-FCAA-A500-32AE74170A82}"/>
              </a:ext>
            </a:extLst>
          </p:cNvPr>
          <p:cNvSpPr txBox="1"/>
          <p:nvPr/>
        </p:nvSpPr>
        <p:spPr>
          <a:xfrm>
            <a:off x="3642791" y="2238073"/>
            <a:ext cx="3243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Хеширование паролей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22768-4A89-B438-046D-D5161C6D6EE2}"/>
              </a:ext>
            </a:extLst>
          </p:cNvPr>
          <p:cNvSpPr txBox="1"/>
          <p:nvPr/>
        </p:nvSpPr>
        <p:spPr>
          <a:xfrm>
            <a:off x="3698202" y="2889654"/>
            <a:ext cx="6412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Ролевая модель и Дистрибуция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BCAF3B-6906-DC5C-0F85-EA937F17BC50}"/>
              </a:ext>
            </a:extLst>
          </p:cNvPr>
          <p:cNvSpPr txBox="1"/>
          <p:nvPr/>
        </p:nvSpPr>
        <p:spPr>
          <a:xfrm>
            <a:off x="3756201" y="3445678"/>
            <a:ext cx="381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Динамическая смена ролей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B8B080-BF7A-8DC8-68E9-BD8115EBB18E}"/>
              </a:ext>
            </a:extLst>
          </p:cNvPr>
          <p:cNvSpPr txBox="1"/>
          <p:nvPr/>
        </p:nvSpPr>
        <p:spPr>
          <a:xfrm>
            <a:off x="3704015" y="3924839"/>
            <a:ext cx="5777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Подключение по коду и доступ к закрытым материалам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287FDE-2D3F-3643-4DCB-7AF38012F721}"/>
              </a:ext>
            </a:extLst>
          </p:cNvPr>
          <p:cNvSpPr txBox="1"/>
          <p:nvPr/>
        </p:nvSpPr>
        <p:spPr>
          <a:xfrm>
            <a:off x="3424129" y="4873827"/>
            <a:ext cx="5205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Функциональные модули</a:t>
            </a:r>
            <a:r>
              <a:rPr lang="en-US" sz="3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36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DAF080-1A01-A841-C8E1-DB8A4D0BCA4C}"/>
              </a:ext>
            </a:extLst>
          </p:cNvPr>
          <p:cNvSpPr txBox="1"/>
          <p:nvPr/>
        </p:nvSpPr>
        <p:spPr>
          <a:xfrm>
            <a:off x="3216338" y="5449700"/>
            <a:ext cx="3496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Интерактивное обучение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D8A64CA-8DCE-5897-0C36-B451E06D9D14}"/>
              </a:ext>
            </a:extLst>
          </p:cNvPr>
          <p:cNvSpPr/>
          <p:nvPr/>
        </p:nvSpPr>
        <p:spPr>
          <a:xfrm>
            <a:off x="2894651" y="6029632"/>
            <a:ext cx="152400" cy="1524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D7A10-663D-7C7E-28A3-30E84E68817F}"/>
              </a:ext>
            </a:extLst>
          </p:cNvPr>
          <p:cNvSpPr txBox="1"/>
          <p:nvPr/>
        </p:nvSpPr>
        <p:spPr>
          <a:xfrm>
            <a:off x="3068496" y="5865198"/>
            <a:ext cx="333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Визуализация контента</a:t>
            </a:r>
            <a:r>
              <a:rPr lang="en-US" sz="24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:</a:t>
            </a:r>
            <a:endParaRPr lang="ru-RU" sz="2400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696891CF-C92F-846A-60A7-19025458500B}"/>
              </a:ext>
            </a:extLst>
          </p:cNvPr>
          <p:cNvCxnSpPr/>
          <p:nvPr/>
        </p:nvCxnSpPr>
        <p:spPr>
          <a:xfrm>
            <a:off x="3496514" y="4778043"/>
            <a:ext cx="4735722" cy="0"/>
          </a:xfrm>
          <a:prstGeom prst="line">
            <a:avLst/>
          </a:prstGeom>
          <a:ln>
            <a:solidFill>
              <a:srgbClr val="6F32A2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1CB1D8F-B04A-9F34-F95F-3E2BB56F36D1}"/>
              </a:ext>
            </a:extLst>
          </p:cNvPr>
          <p:cNvCxnSpPr/>
          <p:nvPr/>
        </p:nvCxnSpPr>
        <p:spPr>
          <a:xfrm>
            <a:off x="3736303" y="2811256"/>
            <a:ext cx="4735722" cy="0"/>
          </a:xfrm>
          <a:prstGeom prst="line">
            <a:avLst/>
          </a:prstGeom>
          <a:ln>
            <a:solidFill>
              <a:srgbClr val="6F32A2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Овал 33">
            <a:extLst>
              <a:ext uri="{FF2B5EF4-FFF2-40B4-BE49-F238E27FC236}">
                <a16:creationId xmlns:a16="http://schemas.microsoft.com/office/drawing/2014/main" id="{3901CD71-A21F-181D-4F56-50B154CF10D4}"/>
              </a:ext>
            </a:extLst>
          </p:cNvPr>
          <p:cNvSpPr/>
          <p:nvPr/>
        </p:nvSpPr>
        <p:spPr>
          <a:xfrm>
            <a:off x="2665785" y="6435128"/>
            <a:ext cx="152400" cy="1524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E51478-1254-2F96-3B0B-80FA28C3C8F4}"/>
              </a:ext>
            </a:extLst>
          </p:cNvPr>
          <p:cNvSpPr txBox="1"/>
          <p:nvPr/>
        </p:nvSpPr>
        <p:spPr>
          <a:xfrm>
            <a:off x="2821858" y="6326662"/>
            <a:ext cx="3618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Chromium + Markdown = WebView2</a:t>
            </a:r>
            <a:endParaRPr lang="ru-RU" dirty="0">
              <a:ln w="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387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0FBE7-42CB-F9E3-E0E4-22FA6604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13598F1-34DD-AAD7-B1F3-2F394A4281D0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26EB02E7-98EE-8D69-F646-2FC7650901A7}"/>
              </a:ext>
            </a:extLst>
          </p:cNvPr>
          <p:cNvSpPr/>
          <p:nvPr/>
        </p:nvSpPr>
        <p:spPr>
          <a:xfrm>
            <a:off x="-5533879" y="-1199387"/>
            <a:ext cx="9094898" cy="9256773"/>
          </a:xfrm>
          <a:prstGeom prst="ellipse">
            <a:avLst/>
          </a:prstGeom>
          <a:solidFill>
            <a:srgbClr val="54267B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E1DD63BE-9F5A-1654-02B5-D92C32AC474D}"/>
              </a:ext>
            </a:extLst>
          </p:cNvPr>
          <p:cNvSpPr/>
          <p:nvPr/>
        </p:nvSpPr>
        <p:spPr>
          <a:xfrm>
            <a:off x="-5765837" y="-1199391"/>
            <a:ext cx="9094898" cy="9256773"/>
          </a:xfrm>
          <a:prstGeom prst="ellipse">
            <a:avLst/>
          </a:prstGeom>
          <a:solidFill>
            <a:srgbClr val="6F32A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DFAECB83-5627-3045-CE6D-5E5E5E694C74}"/>
              </a:ext>
            </a:extLst>
          </p:cNvPr>
          <p:cNvSpPr/>
          <p:nvPr/>
        </p:nvSpPr>
        <p:spPr>
          <a:xfrm>
            <a:off x="-5997795" y="-1199393"/>
            <a:ext cx="9094898" cy="9256773"/>
          </a:xfrm>
          <a:prstGeom prst="ellipse">
            <a:avLst/>
          </a:prstGeom>
          <a:solidFill>
            <a:srgbClr val="8942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hlinkClick r:id="rId2" action="ppaction://hlinksldjump"/>
            <a:extLst>
              <a:ext uri="{FF2B5EF4-FFF2-40B4-BE49-F238E27FC236}">
                <a16:creationId xmlns:a16="http://schemas.microsoft.com/office/drawing/2014/main" id="{9B9DC8DC-D38C-1174-6734-A29517D5E035}"/>
              </a:ext>
            </a:extLst>
          </p:cNvPr>
          <p:cNvSpPr/>
          <p:nvPr/>
        </p:nvSpPr>
        <p:spPr>
          <a:xfrm>
            <a:off x="-6251059" y="-1199393"/>
            <a:ext cx="9094898" cy="9256773"/>
          </a:xfrm>
          <a:prstGeom prst="ellipse">
            <a:avLst/>
          </a:prstGeom>
          <a:solidFill>
            <a:srgbClr val="BA90DD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7C69CBCC-4148-7994-8825-42888E2DB39E}"/>
              </a:ext>
            </a:extLst>
          </p:cNvPr>
          <p:cNvSpPr/>
          <p:nvPr/>
        </p:nvSpPr>
        <p:spPr>
          <a:xfrm>
            <a:off x="-6490318" y="-1199392"/>
            <a:ext cx="9094898" cy="9256773"/>
          </a:xfrm>
          <a:prstGeom prst="ellipse">
            <a:avLst/>
          </a:prstGeom>
          <a:solidFill>
            <a:srgbClr val="D2B7E9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38C3E-7965-466B-2EC7-2F6A7E1922A6}"/>
              </a:ext>
            </a:extLst>
          </p:cNvPr>
          <p:cNvSpPr txBox="1"/>
          <p:nvPr/>
        </p:nvSpPr>
        <p:spPr>
          <a:xfrm rot="5400000">
            <a:off x="-1523744" y="2886315"/>
            <a:ext cx="52167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n w="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2789975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234</Words>
  <Application>Microsoft Office PowerPoint</Application>
  <PresentationFormat>Широкоэкранный</PresentationFormat>
  <Paragraphs>79</Paragraphs>
  <Slides>7</Slides>
  <Notes>0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Benzin-Bold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Hhjjf GgggHhjjfjd</dc:creator>
  <cp:lastModifiedBy>Hhjjf GgggHhjjfjd</cp:lastModifiedBy>
  <cp:revision>17</cp:revision>
  <dcterms:created xsi:type="dcterms:W3CDTF">2025-12-01T19:46:50Z</dcterms:created>
  <dcterms:modified xsi:type="dcterms:W3CDTF">2025-12-07T18:04:29Z</dcterms:modified>
</cp:coreProperties>
</file>